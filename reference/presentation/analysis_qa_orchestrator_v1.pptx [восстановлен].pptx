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2" r:id="rId8"/>
    <p:sldId id="263" r:id="rId9"/>
    <p:sldId id="264" r:id="rId10"/>
    <p:sldId id="265" r:id="rId11"/>
    <p:sldId id="268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937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6. Что получает команда
Польза Оркестратора не ограничивается аналитиком и QA.
На этапе аналитики бизнес-заказчик, руководитель команды и аналитики раньше получают обратную связь по противоречиям, пробелам и неоднозначностям.
После проверки требований разработчик получает более согласованную основу для реализации, а QA работает уже с проверенными требованиями и связанным с ними тестовым покрытием.
После релиза сохраняется прослеживаемость: можно восстановить, из какой аналитики появилось требование и какими тестами оно было проверено.
При этом основными пользователями Оркестратора остаются аналитик и QA, но результат их работы используется всей командой.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67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98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1E3A"/>
          </a:solidFill>
          <a:ln w="12700">
            <a:solidFill>
              <a:srgbClr val="061E3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691640" y="4114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 &amp; QA Orchestrator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719072" y="106070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99A"/>
                </a:solidFill>
              </a:rPr>
              <a:t>От контекста - к качеству</a:t>
            </a:r>
            <a:endParaRPr lang="en-US" sz="2000" b="1" dirty="0"/>
          </a:p>
        </p:txBody>
      </p:sp>
      <p:sp>
        <p:nvSpPr>
          <p:cNvPr id="6" name="Text 3"/>
          <p:cNvSpPr/>
          <p:nvPr/>
        </p:nvSpPr>
        <p:spPr>
          <a:xfrm>
            <a:off x="1719072" y="20574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61E3A"/>
                </a:solidFill>
              </a:rPr>
              <a:t>Инструмент для анализа требований,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61E3A"/>
                </a:solidFill>
              </a:rPr>
              <a:t>проверки аналитики и подготовки </a:t>
            </a:r>
            <a:endParaRPr lang="ru-RU" sz="2400" dirty="0" smtClean="0">
              <a:solidFill>
                <a:srgbClr val="061E3A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rgbClr val="061E3A"/>
                </a:solidFill>
              </a:rPr>
              <a:t>тест-дизайна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719072" y="3246120"/>
            <a:ext cx="6858000" cy="0"/>
          </a:xfrm>
          <a:prstGeom prst="line">
            <a:avLst/>
          </a:prstGeom>
          <a:noFill/>
          <a:ln w="16510">
            <a:solidFill>
              <a:srgbClr val="D6E3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19072" y="39776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80"/>
                </a:solidFill>
              </a:rPr>
              <a:t>Автор идеи и создание продукта: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A6B80"/>
                </a:solidFill>
              </a:rPr>
              <a:t>Андрей Кузнецов</a:t>
            </a:r>
            <a:endParaRPr lang="en-US" sz="1500" dirty="0"/>
          </a:p>
        </p:txBody>
      </p:sp>
      <p:pic>
        <p:nvPicPr>
          <p:cNvPr id="10" name="Image 1" descr="/mnt/data/orchestrator_logo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2057400"/>
            <a:ext cx="1965960" cy="17647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38360" y="48463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99A"/>
                </a:solidFill>
              </a:rPr>
              <a:t>Документы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A99A"/>
                </a:solidFill>
              </a:rPr>
              <a:t>Анализ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A99A"/>
                </a:solidFill>
              </a:rPr>
              <a:t>Покрытие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A99A"/>
                </a:solidFill>
              </a:rPr>
              <a:t>Результат</a:t>
            </a:r>
            <a:endParaRPr lang="en-US" sz="1400" dirty="0"/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764718"/>
              </p:ext>
            </p:extLst>
          </p:nvPr>
        </p:nvGraphicFramePr>
        <p:xfrm>
          <a:off x="407238" y="473379"/>
          <a:ext cx="877165" cy="1023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Image" r:id="rId5" imgW="2285640" imgH="2666520" progId="Photoshop.Image.13">
                  <p:embed/>
                </p:oleObj>
              </mc:Choice>
              <mc:Fallback>
                <p:oleObj name="Image" r:id="rId5" imgW="2285640" imgH="2666520" progId="Photoshop.Image.1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7238" y="473379"/>
                        <a:ext cx="877165" cy="10233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6"/>
          <p:cNvSpPr/>
          <p:nvPr/>
        </p:nvSpPr>
        <p:spPr>
          <a:xfrm>
            <a:off x="1691640" y="3390207"/>
            <a:ext cx="2348345" cy="367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00" dirty="0">
                <a:solidFill>
                  <a:srgbClr val="5A6B80"/>
                </a:solidFill>
              </a:rPr>
              <a:t>Разработано для </a:t>
            </a:r>
            <a:r>
              <a:rPr lang="en-US" sz="1200" dirty="0">
                <a:solidFill>
                  <a:srgbClr val="5A6B80"/>
                </a:solidFill>
              </a:rPr>
              <a:t>SmartDS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До разработки и тестирования нужно разобраться в требованиях</a:t>
            </a:r>
            <a:endParaRPr lang="en-US" sz="2600" dirty="0"/>
          </a:p>
        </p:txBody>
      </p:sp>
      <p:pic>
        <p:nvPicPr>
          <p:cNvPr id="3" name="Image 0" descr="/mnt/data/orchestrator_logo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10312"/>
            <a:ext cx="50292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010001"/>
            <a:ext cx="11155680" cy="0"/>
          </a:xfrm>
          <a:prstGeom prst="line">
            <a:avLst/>
          </a:prstGeom>
          <a:noFill/>
          <a:ln w="12700">
            <a:solidFill>
              <a:srgbClr val="D6E3E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238601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6B80"/>
                </a:solidFill>
              </a:rPr>
              <a:t>Аналитик и QA работают с артефактами БА и СА, которые нужно: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7240" y="1741521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6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собрать в контекст конкретной Story;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153001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6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выделить и согласовать требования;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64481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6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сопоставить БА и СА;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975961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6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найти противоречия и пробелы;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387441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6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подготовить основу для тестового покрытия.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4210401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1E3A"/>
                </a:solidFill>
              </a:rPr>
              <a:t>Значительная часть этой работы требует ручного анализа.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778240" y="1525395"/>
            <a:ext cx="0" cy="475488"/>
          </a:xfrm>
          <a:prstGeom prst="line">
            <a:avLst/>
          </a:prstGeom>
          <a:noFill/>
          <a:ln w="17780">
            <a:solidFill>
              <a:srgbClr val="00A99A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 flipH="1">
            <a:off x="7680960" y="2558667"/>
            <a:ext cx="1097280" cy="411480"/>
          </a:xfrm>
          <a:prstGeom prst="line">
            <a:avLst/>
          </a:prstGeom>
          <a:noFill/>
          <a:ln w="15875">
            <a:solidFill>
              <a:srgbClr val="126CF3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778240" y="2558667"/>
            <a:ext cx="1234440" cy="420624"/>
          </a:xfrm>
          <a:prstGeom prst="line">
            <a:avLst/>
          </a:prstGeom>
          <a:noFill/>
          <a:ln w="15875">
            <a:solidFill>
              <a:srgbClr val="126CF3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543800" y="3646803"/>
            <a:ext cx="914400" cy="795528"/>
          </a:xfrm>
          <a:prstGeom prst="line">
            <a:avLst/>
          </a:prstGeom>
          <a:noFill/>
          <a:ln w="15875">
            <a:solidFill>
              <a:srgbClr val="126CF3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 flipH="1">
            <a:off x="9326880" y="3646803"/>
            <a:ext cx="685800" cy="786384"/>
          </a:xfrm>
          <a:prstGeom prst="line">
            <a:avLst/>
          </a:prstGeom>
          <a:noFill/>
          <a:ln w="15875">
            <a:solidFill>
              <a:srgbClr val="126CF3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778240" y="5155563"/>
            <a:ext cx="0" cy="621792"/>
          </a:xfrm>
          <a:prstGeom prst="line">
            <a:avLst/>
          </a:prstGeom>
          <a:noFill/>
          <a:ln w="17780">
            <a:solidFill>
              <a:srgbClr val="00A99A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7818120" y="1159635"/>
            <a:ext cx="1920240" cy="502920"/>
          </a:xfrm>
          <a:prstGeom prst="roundRect">
            <a:avLst/>
          </a:prstGeom>
          <a:solidFill>
            <a:srgbClr val="EAFBFF"/>
          </a:solidFill>
          <a:ln w="12700">
            <a:solidFill>
              <a:srgbClr val="20D8F0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720840" y="2988435"/>
            <a:ext cx="1508760" cy="640080"/>
          </a:xfrm>
          <a:prstGeom prst="roundRect">
            <a:avLst/>
          </a:prstGeom>
          <a:solidFill>
            <a:srgbClr val="F4FAFD"/>
          </a:solidFill>
          <a:ln w="12700">
            <a:solidFill>
              <a:srgbClr val="D6E3E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326880" y="2988435"/>
            <a:ext cx="1508760" cy="640080"/>
          </a:xfrm>
          <a:prstGeom prst="roundRect">
            <a:avLst/>
          </a:prstGeom>
          <a:solidFill>
            <a:srgbClr val="F4FAFD"/>
          </a:solidFill>
          <a:ln w="12700">
            <a:solidFill>
              <a:srgbClr val="D6E3E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СА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601989" y="4451475"/>
            <a:ext cx="2468880" cy="685800"/>
          </a:xfrm>
          <a:prstGeom prst="roundRect">
            <a:avLst/>
          </a:prstGeom>
          <a:solidFill>
            <a:srgbClr val="EEF7F4"/>
          </a:solidFill>
          <a:ln w="12700">
            <a:solidFill>
              <a:srgbClr val="36C695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Ручной анализ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903720" y="5777355"/>
            <a:ext cx="3749040" cy="685800"/>
          </a:xfrm>
          <a:prstGeom prst="roundRect">
            <a:avLst/>
          </a:prstGeom>
          <a:solidFill>
            <a:srgbClr val="F3F1FF"/>
          </a:solidFill>
          <a:ln w="12700">
            <a:solidFill>
              <a:srgbClr val="6F57F7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требования / пробелы /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основа тестового покрытия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680960" y="2028315"/>
            <a:ext cx="2194560" cy="502920"/>
          </a:xfrm>
          <a:prstGeom prst="roundRect">
            <a:avLst/>
          </a:prstGeom>
          <a:solidFill>
            <a:srgbClr val="EAFBF4"/>
          </a:solidFill>
          <a:ln w="12700">
            <a:solidFill>
              <a:srgbClr val="36C695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Аналитик / QA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Один управляемый процесс</a:t>
            </a:r>
            <a:endParaRPr lang="en-US" sz="2600" dirty="0"/>
          </a:p>
        </p:txBody>
      </p:sp>
      <p:pic>
        <p:nvPicPr>
          <p:cNvPr id="3" name="Image 0" descr="/mnt/data/orchestrator_logo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10312"/>
            <a:ext cx="50292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6E3E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0515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6B80"/>
                </a:solidFill>
              </a:rPr>
              <a:t>Analysis &amp; QA Orchestrator берёт на себя значительную часть предварительной работы.</a:t>
            </a:r>
            <a:endParaRPr lang="en-US" sz="1800" b="1" dirty="0"/>
          </a:p>
        </p:txBody>
      </p:sp>
      <p:sp>
        <p:nvSpPr>
          <p:cNvPr id="6" name="Shape 3"/>
          <p:cNvSpPr/>
          <p:nvPr/>
        </p:nvSpPr>
        <p:spPr>
          <a:xfrm>
            <a:off x="685800" y="2327574"/>
            <a:ext cx="10835640" cy="3154680"/>
          </a:xfrm>
          <a:prstGeom prst="roundRect">
            <a:avLst/>
          </a:prstGeom>
          <a:solidFill>
            <a:srgbClr val="F8FBFE"/>
          </a:solidFill>
          <a:ln w="15240">
            <a:solidFill>
              <a:srgbClr val="D6E3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249216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99A"/>
                </a:solidFill>
              </a:rPr>
              <a:t>Analysis &amp; QA Orchestrator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1566954"/>
            <a:ext cx="1371600" cy="411480"/>
          </a:xfrm>
          <a:prstGeom prst="roundRect">
            <a:avLst/>
          </a:prstGeom>
          <a:solidFill>
            <a:srgbClr val="EAFBFF"/>
          </a:solidFill>
          <a:ln w="12700">
            <a:solidFill>
              <a:srgbClr val="20D8F0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691640" y="1976780"/>
            <a:ext cx="0" cy="320040"/>
          </a:xfrm>
          <a:prstGeom prst="line">
            <a:avLst/>
          </a:prstGeom>
          <a:noFill/>
          <a:ln w="15240">
            <a:solidFill>
              <a:srgbClr val="00A99A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377440" y="3836334"/>
            <a:ext cx="594360" cy="0"/>
          </a:xfrm>
          <a:prstGeom prst="line">
            <a:avLst/>
          </a:prstGeom>
          <a:noFill/>
          <a:ln w="17780">
            <a:solidFill>
              <a:srgbClr val="126CF3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389120" y="3836334"/>
            <a:ext cx="594360" cy="0"/>
          </a:xfrm>
          <a:prstGeom prst="line">
            <a:avLst/>
          </a:prstGeom>
          <a:noFill/>
          <a:ln w="17780">
            <a:solidFill>
              <a:srgbClr val="126CF3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400800" y="3836334"/>
            <a:ext cx="594360" cy="0"/>
          </a:xfrm>
          <a:prstGeom prst="line">
            <a:avLst/>
          </a:prstGeom>
          <a:noFill/>
          <a:ln w="17780">
            <a:solidFill>
              <a:srgbClr val="126CF3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412480" y="3836334"/>
            <a:ext cx="594360" cy="0"/>
          </a:xfrm>
          <a:prstGeom prst="line">
            <a:avLst/>
          </a:prstGeom>
          <a:noFill/>
          <a:ln w="17780">
            <a:solidFill>
              <a:srgbClr val="126CF3"/>
            </a:solidFill>
            <a:prstDash val="solid"/>
            <a:headEnd type="none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1051560" y="3287694"/>
            <a:ext cx="1508760" cy="1051560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D6E3E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Артефакты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063240" y="3287694"/>
            <a:ext cx="1508760" cy="1051560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D6E3E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Контекст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74920" y="3287694"/>
            <a:ext cx="1508760" cy="1051560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D6E3E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Требования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086600" y="3287694"/>
            <a:ext cx="1508760" cy="1051560"/>
          </a:xfrm>
          <a:prstGeom prst="roundRect">
            <a:avLst/>
          </a:prstGeom>
          <a:solidFill>
            <a:srgbClr val="F3F1FF"/>
          </a:solidFill>
          <a:ln w="12700">
            <a:solidFill>
              <a:srgbClr val="6F57F7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аналитики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098280" y="3287694"/>
            <a:ext cx="1508760" cy="1051560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D6E3E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Тестовое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покрытие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05840" y="5848014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1E3A"/>
                </a:solidFill>
              </a:rPr>
              <a:t>Результат каждого этапа сохраняется.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61E3A"/>
                </a:solidFill>
              </a:rPr>
              <a:t>Переход дальше зависит </a:t>
            </a:r>
            <a:r>
              <a:rPr lang="en-US" sz="2000" b="1" dirty="0" err="1">
                <a:solidFill>
                  <a:srgbClr val="061E3A"/>
                </a:solidFill>
              </a:rPr>
              <a:t>от</a:t>
            </a:r>
            <a:r>
              <a:rPr lang="en-US" sz="2000" b="1" dirty="0">
                <a:solidFill>
                  <a:srgbClr val="061E3A"/>
                </a:solidFill>
              </a:rPr>
              <a:t> проверки пользователем.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От </a:t>
            </a:r>
            <a:r>
              <a:rPr lang="ru-RU" sz="2600" b="1" dirty="0" smtClean="0">
                <a:solidFill>
                  <a:srgbClr val="06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документов</a:t>
            </a:r>
            <a:r>
              <a:rPr lang="en-US" sz="2600" b="1" dirty="0" smtClean="0">
                <a:solidFill>
                  <a:srgbClr val="06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600" b="1" dirty="0">
                <a:solidFill>
                  <a:srgbClr val="06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до тестового покрытия</a:t>
            </a:r>
            <a:endParaRPr lang="en-US" sz="2600" dirty="0"/>
          </a:p>
        </p:txBody>
      </p:sp>
      <p:pic>
        <p:nvPicPr>
          <p:cNvPr id="3" name="Image 0" descr="/mnt/data/orchestrator_logo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10312"/>
            <a:ext cx="50292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6E3EF"/>
            </a:solidFill>
            <a:prstDash val="solid"/>
          </a:ln>
        </p:spPr>
      </p:sp>
      <p:pic>
        <p:nvPicPr>
          <p:cNvPr id="5" name="Image 1" descr="/mnt/data/workflow_final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782" y="960120"/>
            <a:ext cx="6427677" cy="5623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Человек остаётся в контуре</a:t>
            </a:r>
            <a:endParaRPr lang="en-US" sz="2600" dirty="0"/>
          </a:p>
        </p:txBody>
      </p:sp>
      <p:pic>
        <p:nvPicPr>
          <p:cNvPr id="3" name="Image 0" descr="/mnt/data/orchestrator_logo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10312"/>
            <a:ext cx="50292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6E3E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0241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6B80"/>
                </a:solidFill>
              </a:rPr>
              <a:t>Между основными этапами стоят обязательные точки ручной проверки.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5840" y="16002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6CF3"/>
                </a:solidFill>
              </a:rPr>
              <a:t>ТРЕБОВАНИЯ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0" y="16002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F57F7"/>
                </a:solidFill>
              </a:rPr>
              <a:t>ПРОБЛЕМЫ АНАЛИТИКИ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46120" y="2240280"/>
            <a:ext cx="0" cy="365760"/>
          </a:xfrm>
          <a:prstGeom prst="line">
            <a:avLst/>
          </a:prstGeom>
          <a:noFill/>
          <a:ln w="15240">
            <a:solidFill>
              <a:srgbClr val="126CF3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46120" y="3154680"/>
            <a:ext cx="0" cy="365760"/>
          </a:xfrm>
          <a:prstGeom prst="line">
            <a:avLst/>
          </a:prstGeom>
          <a:noFill/>
          <a:ln w="15240">
            <a:solidFill>
              <a:srgbClr val="126CF3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 flipH="1">
            <a:off x="2502130" y="4085706"/>
            <a:ext cx="727364" cy="502920"/>
          </a:xfrm>
          <a:prstGeom prst="line">
            <a:avLst/>
          </a:prstGeom>
          <a:noFill/>
          <a:ln w="15240">
            <a:solidFill>
              <a:srgbClr val="126CF3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246120" y="4069080"/>
            <a:ext cx="1051560" cy="548640"/>
          </a:xfrm>
          <a:prstGeom prst="line">
            <a:avLst/>
          </a:prstGeom>
          <a:noFill/>
          <a:ln w="15240">
            <a:solidFill>
              <a:srgbClr val="126CF3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194560" y="5138928"/>
            <a:ext cx="0" cy="420624"/>
          </a:xfrm>
          <a:prstGeom prst="line">
            <a:avLst/>
          </a:prstGeom>
          <a:noFill/>
          <a:ln w="15240">
            <a:solidFill>
              <a:srgbClr val="00A99A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823960" y="2240280"/>
            <a:ext cx="0" cy="365760"/>
          </a:xfrm>
          <a:prstGeom prst="line">
            <a:avLst/>
          </a:prstGeom>
          <a:noFill/>
          <a:ln w="15240">
            <a:solidFill>
              <a:srgbClr val="6F57F7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823960" y="3154680"/>
            <a:ext cx="0" cy="365760"/>
          </a:xfrm>
          <a:prstGeom prst="line">
            <a:avLst/>
          </a:prstGeom>
          <a:noFill/>
          <a:ln w="15240">
            <a:solidFill>
              <a:srgbClr val="6F57F7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 flipH="1">
            <a:off x="8030094" y="4085706"/>
            <a:ext cx="785553" cy="475488"/>
          </a:xfrm>
          <a:prstGeom prst="line">
            <a:avLst/>
          </a:prstGeom>
          <a:noFill/>
          <a:ln w="15240">
            <a:solidFill>
              <a:srgbClr val="00A99A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823960" y="4069080"/>
            <a:ext cx="1051560" cy="548640"/>
          </a:xfrm>
          <a:prstGeom prst="line">
            <a:avLst/>
          </a:prstGeom>
          <a:noFill/>
          <a:ln w="15240">
            <a:solidFill>
              <a:srgbClr val="F03A63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772400" y="5138928"/>
            <a:ext cx="0" cy="420624"/>
          </a:xfrm>
          <a:prstGeom prst="line">
            <a:avLst/>
          </a:prstGeom>
          <a:noFill/>
          <a:ln w="15240">
            <a:solidFill>
              <a:srgbClr val="00A99A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875520" y="5138928"/>
            <a:ext cx="0" cy="420624"/>
          </a:xfrm>
          <a:prstGeom prst="line">
            <a:avLst/>
          </a:prstGeom>
          <a:noFill/>
          <a:ln w="15240">
            <a:solidFill>
              <a:srgbClr val="F03A63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2331720" y="1920240"/>
            <a:ext cx="1828800" cy="411480"/>
          </a:xfrm>
          <a:prstGeom prst="roundRect">
            <a:avLst/>
          </a:prstGeom>
          <a:solidFill>
            <a:srgbClr val="F3F1FF"/>
          </a:solidFill>
          <a:ln w="12700">
            <a:solidFill>
              <a:srgbClr val="6F57F7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Нейросеть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331720" y="2697480"/>
            <a:ext cx="1828800" cy="411480"/>
          </a:xfrm>
          <a:prstGeom prst="roundRect">
            <a:avLst/>
          </a:prstGeom>
          <a:solidFill>
            <a:srgbClr val="F4FAFD"/>
          </a:solidFill>
          <a:ln w="12700">
            <a:solidFill>
              <a:srgbClr val="D6E3E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Требование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148840" y="3611880"/>
            <a:ext cx="2194560" cy="502920"/>
          </a:xfrm>
          <a:prstGeom prst="roundRect">
            <a:avLst/>
          </a:prstGeom>
          <a:solidFill>
            <a:srgbClr val="EAFBF4"/>
          </a:solidFill>
          <a:ln w="12700">
            <a:solidFill>
              <a:srgbClr val="36C695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Аналитик / QA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417320" y="4617720"/>
            <a:ext cx="1554480" cy="502920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126CF3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Принять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520440" y="4617720"/>
            <a:ext cx="1554480" cy="5029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6E3E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Исключить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25880" y="5550408"/>
            <a:ext cx="1737360" cy="566928"/>
          </a:xfrm>
          <a:prstGeom prst="roundRect">
            <a:avLst/>
          </a:prstGeom>
          <a:solidFill>
            <a:srgbClr val="EAFBF4"/>
          </a:solidFill>
          <a:ln w="12700">
            <a:solidFill>
              <a:srgbClr val="36C695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Использовать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дальше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909560" y="1920240"/>
            <a:ext cx="1828800" cy="411480"/>
          </a:xfrm>
          <a:prstGeom prst="roundRect">
            <a:avLst/>
          </a:prstGeom>
          <a:solidFill>
            <a:srgbClr val="F3F1FF"/>
          </a:solidFill>
          <a:ln w="12700">
            <a:solidFill>
              <a:srgbClr val="6F57F7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Нейросеть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818120" y="2651760"/>
            <a:ext cx="2011680" cy="566928"/>
          </a:xfrm>
          <a:prstGeom prst="roundRect">
            <a:avLst/>
          </a:prstGeom>
          <a:solidFill>
            <a:srgbClr val="F4FAFD"/>
          </a:solidFill>
          <a:ln w="12700">
            <a:solidFill>
              <a:srgbClr val="D6E3EF"/>
            </a:solidFill>
          </a:ln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Найденная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проблема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818120" y="3611880"/>
            <a:ext cx="2011680" cy="502920"/>
          </a:xfrm>
          <a:prstGeom prst="roundRect">
            <a:avLst/>
          </a:prstGeom>
          <a:solidFill>
            <a:srgbClr val="EAFBF4"/>
          </a:solidFill>
          <a:ln w="12700">
            <a:solidFill>
              <a:srgbClr val="36C695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Аналитик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995160" y="4617720"/>
            <a:ext cx="1554480" cy="502920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126CF3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Исключить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098280" y="4617720"/>
            <a:ext cx="1554480" cy="502920"/>
          </a:xfrm>
          <a:prstGeom prst="roundRect">
            <a:avLst/>
          </a:prstGeom>
          <a:solidFill>
            <a:srgbClr val="FDF1F4"/>
          </a:solidFill>
          <a:ln w="12700">
            <a:solidFill>
              <a:srgbClr val="F03A63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Принять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903720" y="5550408"/>
            <a:ext cx="1737360" cy="566928"/>
          </a:xfrm>
          <a:prstGeom prst="roundRect">
            <a:avLst/>
          </a:prstGeom>
          <a:solidFill>
            <a:srgbClr val="EAFBF4"/>
          </a:solidFill>
          <a:ln w="12700">
            <a:solidFill>
              <a:srgbClr val="36C695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Продолжить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9006840" y="5550408"/>
            <a:ext cx="1737360" cy="566928"/>
          </a:xfrm>
          <a:prstGeom prst="roundRect">
            <a:avLst/>
          </a:prstGeom>
          <a:solidFill>
            <a:srgbClr val="FFF4F6"/>
          </a:solidFill>
          <a:ln w="12700">
            <a:solidFill>
              <a:srgbClr val="F03A63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Исправить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БА/СА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85800" y="63093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E3A"/>
                </a:solidFill>
              </a:rPr>
              <a:t>Решение человека определяет дальнейший маршрут процесса.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получает команда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D3E0E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1208" y="1078992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80" dirty="0">
                <a:solidFill>
                  <a:srgbClr val="5A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Run связывает аналитику, решения и тестовое покрытие для всех участников </a:t>
            </a:r>
            <a:r>
              <a:rPr lang="ru-RU" sz="1580" dirty="0" smtClean="0">
                <a:solidFill>
                  <a:srgbClr val="5A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команды</a:t>
            </a:r>
            <a:r>
              <a:rPr lang="en-US" sz="1580" dirty="0" smtClean="0">
                <a:solidFill>
                  <a:srgbClr val="5A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80" dirty="0"/>
          </a:p>
        </p:txBody>
      </p:sp>
      <p:sp>
        <p:nvSpPr>
          <p:cNvPr id="6" name="Shape 3"/>
          <p:cNvSpPr/>
          <p:nvPr/>
        </p:nvSpPr>
        <p:spPr>
          <a:xfrm>
            <a:off x="502920" y="1581912"/>
            <a:ext cx="11155680" cy="1243584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D3E0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581912"/>
            <a:ext cx="164592" cy="124358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5528" y="1828800"/>
            <a:ext cx="384048" cy="384048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89114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25880" y="17830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РАЗРАБОТКИ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325880" y="2139696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EAFBF7"/>
          </a:solidFill>
          <a:ln w="12700">
            <a:solidFill>
              <a:srgbClr val="EAFB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44752" y="2212848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Бизнес-заказчик · SDM · БА / СА</a:t>
            </a:r>
            <a:endParaRPr lang="en-US" sz="1240" dirty="0"/>
          </a:p>
        </p:txBody>
      </p:sp>
      <p:sp>
        <p:nvSpPr>
          <p:cNvPr id="13" name="Text 10"/>
          <p:cNvSpPr/>
          <p:nvPr/>
        </p:nvSpPr>
        <p:spPr>
          <a:xfrm>
            <a:off x="4846320" y="1746504"/>
            <a:ext cx="662940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раньше видны противоречия, пробелы и неоднозначности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требования собираются в проверенный набор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подтверждённые проблемы возвращаются в БА/СА</a:t>
            </a:r>
            <a:endParaRPr lang="en-US" sz="1440" dirty="0"/>
          </a:p>
        </p:txBody>
      </p:sp>
      <p:sp>
        <p:nvSpPr>
          <p:cNvPr id="14" name="Shape 11"/>
          <p:cNvSpPr/>
          <p:nvPr/>
        </p:nvSpPr>
        <p:spPr>
          <a:xfrm>
            <a:off x="502920" y="2971800"/>
            <a:ext cx="11155680" cy="1335024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3970">
            <a:solidFill>
              <a:srgbClr val="D3E0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2971800"/>
            <a:ext cx="164592" cy="133502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5528" y="3218688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5528" y="326440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25880" y="31729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И ТЕСТИРОВАНИЕ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325880" y="3529584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44752" y="3602736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Разработчик · QA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4846320" y="3136392"/>
            <a:ext cx="662940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разработчик получает </a:t>
            </a:r>
            <a:r>
              <a:rPr lang="ru-RU" sz="1440" dirty="0" smtClean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проверенные требования</a:t>
            </a:r>
            <a:r>
              <a:rPr lang="en-US" sz="1440" dirty="0" smtClean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40" dirty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реализации</a:t>
            </a:r>
            <a:endParaRPr lang="en-US" sz="1440" dirty="0"/>
          </a:p>
          <a:p>
            <a:r>
              <a:rPr lang="en-US" sz="1440" dirty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ru-RU" sz="1440" dirty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получает </a:t>
            </a:r>
            <a:r>
              <a:rPr lang="ru-RU" sz="1440" dirty="0" smtClean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тест-кейсы </a:t>
            </a:r>
            <a:r>
              <a:rPr lang="ru-RU" sz="1440" dirty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матрицу </a:t>
            </a:r>
            <a:r>
              <a:rPr lang="ru-RU" sz="1440" dirty="0" smtClean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покрытия</a:t>
            </a:r>
          </a:p>
          <a:p>
            <a:r>
              <a:rPr lang="en-US" sz="1440" dirty="0" smtClean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40" dirty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тест-кейсы связаны с требованиями, видны требования без покрытия</a:t>
            </a:r>
            <a:endParaRPr lang="en-US" sz="1440" dirty="0"/>
          </a:p>
        </p:txBody>
      </p:sp>
      <p:sp>
        <p:nvSpPr>
          <p:cNvPr id="22" name="Shape 19"/>
          <p:cNvSpPr/>
          <p:nvPr/>
        </p:nvSpPr>
        <p:spPr>
          <a:xfrm>
            <a:off x="502920" y="4462272"/>
            <a:ext cx="11155680" cy="11704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D3E0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2920" y="4462272"/>
            <a:ext cx="164592" cy="1170432"/>
          </a:xfrm>
          <a:prstGeom prst="rect">
            <a:avLst/>
          </a:prstGeom>
          <a:solidFill>
            <a:srgbClr val="6F58E8"/>
          </a:solidFill>
          <a:ln w="12700">
            <a:solidFill>
              <a:srgbClr val="6F58E8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5528" y="4709160"/>
            <a:ext cx="384048" cy="384048"/>
          </a:xfrm>
          <a:prstGeom prst="ellipse">
            <a:avLst/>
          </a:prstGeom>
          <a:solidFill>
            <a:srgbClr val="6F58E8"/>
          </a:solidFill>
          <a:ln w="12700">
            <a:solidFill>
              <a:srgbClr val="6F58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5528" y="477150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325880" y="4663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F5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РЕЛИЗА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325880" y="5020056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44752" y="5093208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Поддержка</a:t>
            </a:r>
            <a:endParaRPr lang="en-US" sz="1240" dirty="0"/>
          </a:p>
        </p:txBody>
      </p:sp>
      <p:sp>
        <p:nvSpPr>
          <p:cNvPr id="29" name="Text 26"/>
          <p:cNvSpPr/>
          <p:nvPr/>
        </p:nvSpPr>
        <p:spPr>
          <a:xfrm>
            <a:off x="4846320" y="4626864"/>
            <a:ext cx="6629400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сохраняется связь: аналитика → требования → тесты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проще восстановить, какое поведение было заложено и проверено</a:t>
            </a:r>
            <a:endParaRPr lang="en-US" sz="1440" dirty="0"/>
          </a:p>
        </p:txBody>
      </p:sp>
      <p:sp>
        <p:nvSpPr>
          <p:cNvPr id="30" name="Shape 27"/>
          <p:cNvSpPr/>
          <p:nvPr/>
        </p:nvSpPr>
        <p:spPr>
          <a:xfrm>
            <a:off x="502920" y="5897880"/>
            <a:ext cx="11155680" cy="566928"/>
          </a:xfrm>
          <a:prstGeom prst="roundRect">
            <a:avLst>
              <a:gd name="adj" fmla="val 22581"/>
            </a:avLst>
          </a:prstGeom>
          <a:solidFill>
            <a:srgbClr val="F7FBFF"/>
          </a:solidFill>
          <a:ln w="12700">
            <a:solidFill>
              <a:srgbClr val="D3E0E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" y="606247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D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Оркестратор остаётся рабочим инструментом аналитика и QA, но результат используется всей командой.</a:t>
            </a:r>
            <a:endParaRPr lang="en-US" sz="1650" dirty="0"/>
          </a:p>
        </p:txBody>
      </p:sp>
      <p:pic>
        <p:nvPicPr>
          <p:cNvPr id="32" name="Image 0" descr="/mnt/data/orchestrator_logo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10312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95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уже работает в 1.0.0 MVP</a:t>
            </a:r>
            <a:endParaRPr lang="en-US" sz="2600" dirty="0"/>
          </a:p>
        </p:txBody>
      </p:sp>
      <p:pic>
        <p:nvPicPr>
          <p:cNvPr id="3" name="Image 0" descr="/mnt/data/orchestrator_logo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10312"/>
            <a:ext cx="50292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6E3E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325880"/>
            <a:ext cx="4983480" cy="1965960"/>
          </a:xfrm>
          <a:prstGeom prst="roundRect">
            <a:avLst/>
          </a:prstGeom>
          <a:solidFill>
            <a:srgbClr val="F8FBFE"/>
          </a:solidFill>
          <a:ln w="13970">
            <a:solidFill>
              <a:srgbClr val="D6E3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325880"/>
            <a:ext cx="109728" cy="1965960"/>
          </a:xfrm>
          <a:prstGeom prst="rect">
            <a:avLst/>
          </a:prstGeom>
          <a:solidFill>
            <a:srgbClr val="00A99A"/>
          </a:solidFill>
          <a:ln w="12700">
            <a:solidFill>
              <a:srgbClr val="00A9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1554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99A"/>
                </a:solidFill>
              </a:rPr>
              <a:t>РАБОЧИЙ ПРОЦЕСС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984248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61E3A"/>
                </a:solidFill>
              </a:rPr>
              <a:t>Требования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1E3A"/>
                </a:solidFill>
              </a:rPr>
              <a:t>Проверка логики и </a:t>
            </a:r>
            <a:r>
              <a:rPr lang="en-US" sz="1800" b="1" dirty="0" err="1" smtClean="0">
                <a:solidFill>
                  <a:srgbClr val="061E3A"/>
                </a:solidFill>
              </a:rPr>
              <a:t>полноты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1E3A"/>
                </a:solidFill>
              </a:rPr>
              <a:t>Тестовое покрытие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63640" y="1325880"/>
            <a:ext cx="4983480" cy="1965960"/>
          </a:xfrm>
          <a:prstGeom prst="roundRect">
            <a:avLst/>
          </a:prstGeom>
          <a:solidFill>
            <a:srgbClr val="F8FBFE"/>
          </a:solidFill>
          <a:ln w="13970">
            <a:solidFill>
              <a:srgbClr val="D6E3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3640" y="1325880"/>
            <a:ext cx="109728" cy="1965960"/>
          </a:xfrm>
          <a:prstGeom prst="rect">
            <a:avLst/>
          </a:prstGeom>
          <a:solidFill>
            <a:srgbClr val="6F57F7"/>
          </a:solidFill>
          <a:ln w="12700">
            <a:solidFill>
              <a:srgbClr val="6F57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1554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F57F7"/>
                </a:solidFill>
              </a:rPr>
              <a:t>ИНТЕГРАЦИИ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83680" y="1984248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61E3A"/>
                </a:solidFill>
              </a:rPr>
              <a:t>Doc2RAG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1E3A"/>
                </a:solidFill>
              </a:rPr>
              <a:t>OpenRouter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1E3A"/>
                </a:solidFill>
              </a:rPr>
              <a:t>Test IT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77240" y="3794760"/>
            <a:ext cx="4983480" cy="1965960"/>
          </a:xfrm>
          <a:prstGeom prst="roundRect">
            <a:avLst/>
          </a:prstGeom>
          <a:solidFill>
            <a:srgbClr val="F8FBFE"/>
          </a:solidFill>
          <a:ln w="13970">
            <a:solidFill>
              <a:srgbClr val="D6E3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3794760"/>
            <a:ext cx="109728" cy="1965960"/>
          </a:xfrm>
          <a:prstGeom prst="rect">
            <a:avLst/>
          </a:prstGeom>
          <a:solidFill>
            <a:srgbClr val="126CF3"/>
          </a:solidFill>
          <a:ln w="12700">
            <a:solidFill>
              <a:srgbClr val="126C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4023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6CF3"/>
                </a:solidFill>
              </a:rPr>
              <a:t>РАБОТА С ПРОЕКТАМИ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97280" y="4453128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061E3A"/>
                </a:solidFill>
              </a:rPr>
              <a:t>Runs</a:t>
            </a:r>
            <a:r>
              <a:rPr lang="ru-RU" sz="1800" b="1" dirty="0" smtClean="0">
                <a:solidFill>
                  <a:srgbClr val="061E3A"/>
                </a:solidFill>
              </a:rPr>
              <a:t> (проекты)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1E3A"/>
                </a:solidFill>
              </a:rPr>
              <a:t>Сохранение состояния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1E3A"/>
                </a:solidFill>
              </a:rPr>
              <a:t>Экспорт и импорт проекта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1E3A"/>
                </a:solidFill>
              </a:rPr>
              <a:t>Статистика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263640" y="3794760"/>
            <a:ext cx="4983480" cy="1965960"/>
          </a:xfrm>
          <a:prstGeom prst="roundRect">
            <a:avLst/>
          </a:prstGeom>
          <a:solidFill>
            <a:srgbClr val="F8FBFE"/>
          </a:solidFill>
          <a:ln w="13970">
            <a:solidFill>
              <a:srgbClr val="D6E3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63640" y="3794760"/>
            <a:ext cx="109728" cy="1965960"/>
          </a:xfrm>
          <a:prstGeom prst="rect">
            <a:avLst/>
          </a:prstGeom>
          <a:solidFill>
            <a:srgbClr val="36C695"/>
          </a:solidFill>
          <a:ln w="12700">
            <a:solidFill>
              <a:srgbClr val="36C69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4023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C695"/>
                </a:solidFill>
              </a:rPr>
              <a:t>ПОСТАВКА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83680" y="4453128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b="1" dirty="0">
                <a:solidFill>
                  <a:srgbClr val="061E3A"/>
                </a:solidFill>
              </a:rPr>
              <a:t>P</a:t>
            </a:r>
            <a:r>
              <a:rPr lang="ru-RU" b="1" dirty="0" err="1" smtClean="0">
                <a:solidFill>
                  <a:srgbClr val="061E3A"/>
                </a:solidFill>
              </a:rPr>
              <a:t>ortable</a:t>
            </a:r>
            <a:r>
              <a:rPr lang="ru-RU" b="1" dirty="0" smtClean="0">
                <a:solidFill>
                  <a:srgbClr val="061E3A"/>
                </a:solidFill>
              </a:rPr>
              <a:t> </a:t>
            </a:r>
            <a:r>
              <a:rPr lang="ru-RU" b="1" dirty="0">
                <a:solidFill>
                  <a:srgbClr val="061E3A"/>
                </a:solidFill>
              </a:rPr>
              <a:t>для </a:t>
            </a:r>
            <a:r>
              <a:rPr lang="ru-RU" b="1" dirty="0" err="1">
                <a:solidFill>
                  <a:srgbClr val="061E3A"/>
                </a:solidFill>
              </a:rPr>
              <a:t>Windows</a:t>
            </a:r>
            <a:r>
              <a:rPr lang="ru-RU" b="1" dirty="0">
                <a:solidFill>
                  <a:srgbClr val="061E3A"/>
                </a:solidFill>
              </a:rPr>
              <a:t> 10/11 x64</a:t>
            </a:r>
          </a:p>
          <a:p>
            <a:r>
              <a:rPr lang="ru-RU" b="1" dirty="0">
                <a:solidFill>
                  <a:srgbClr val="061E3A"/>
                </a:solidFill>
              </a:rPr>
              <a:t>Локальное хранение проектов</a:t>
            </a:r>
          </a:p>
          <a:p>
            <a:r>
              <a:rPr lang="ru-RU" b="1" dirty="0">
                <a:solidFill>
                  <a:srgbClr val="061E3A"/>
                </a:solidFill>
              </a:rPr>
              <a:t>Без </a:t>
            </a:r>
            <a:r>
              <a:rPr lang="ru-RU" b="1" dirty="0" smtClean="0">
                <a:solidFill>
                  <a:srgbClr val="061E3A"/>
                </a:solidFill>
              </a:rPr>
              <a:t>развёртывания </a:t>
            </a:r>
            <a:r>
              <a:rPr lang="ru-RU" b="1" dirty="0">
                <a:solidFill>
                  <a:srgbClr val="061E3A"/>
                </a:solidFill>
              </a:rPr>
              <a:t>сервера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05840" y="61722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B80"/>
                </a:solidFill>
              </a:rPr>
              <a:t>MVP уже закрывает основной маршрут: </a:t>
            </a:r>
            <a:r>
              <a:rPr lang="en-US" sz="1600" dirty="0" err="1">
                <a:solidFill>
                  <a:srgbClr val="5A6B80"/>
                </a:solidFill>
              </a:rPr>
              <a:t>от</a:t>
            </a:r>
            <a:r>
              <a:rPr lang="en-US" sz="1600" dirty="0">
                <a:solidFill>
                  <a:srgbClr val="5A6B80"/>
                </a:solidFill>
              </a:rPr>
              <a:t> аналитики к проверенному тестовому покрытию.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Один Run: </a:t>
            </a:r>
            <a:r>
              <a:rPr lang="en-US" sz="2600" b="1" dirty="0" err="1">
                <a:solidFill>
                  <a:srgbClr val="06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от</a:t>
            </a:r>
            <a:r>
              <a:rPr lang="en-US" sz="2600" b="1" dirty="0">
                <a:solidFill>
                  <a:srgbClr val="06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аналитики до тест-кейсов</a:t>
            </a:r>
            <a:endParaRPr lang="en-US" sz="2600" dirty="0"/>
          </a:p>
        </p:txBody>
      </p:sp>
      <p:pic>
        <p:nvPicPr>
          <p:cNvPr id="3" name="Image 0" descr="/mnt/data/orchestrator_logo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10312"/>
            <a:ext cx="50292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6E3E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051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99A"/>
                </a:solidFill>
              </a:rPr>
              <a:t>Живое демо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77240" y="1783080"/>
            <a:ext cx="310896" cy="310896"/>
          </a:xfrm>
          <a:prstGeom prst="roundRect">
            <a:avLst/>
          </a:prstGeom>
          <a:solidFill>
            <a:srgbClr val="126CF3"/>
          </a:solidFill>
          <a:ln>
            <a:solidFill>
              <a:srgbClr val="126CF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70432" y="1801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61E3A"/>
                </a:solidFill>
              </a:rPr>
              <a:t>Загружаем артефакты БА и СА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310896" cy="310896"/>
          </a:xfrm>
          <a:prstGeom prst="roundRect">
            <a:avLst/>
          </a:prstGeom>
          <a:solidFill>
            <a:srgbClr val="126CF3"/>
          </a:solidFill>
          <a:ln>
            <a:solidFill>
              <a:srgbClr val="126CF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70432" y="23042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61E3A"/>
                </a:solidFill>
              </a:rPr>
              <a:t>Получаем и проверяем требования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2788920"/>
            <a:ext cx="310896" cy="310896"/>
          </a:xfrm>
          <a:prstGeom prst="roundRect">
            <a:avLst/>
          </a:prstGeom>
          <a:solidFill>
            <a:srgbClr val="126CF3"/>
          </a:solidFill>
          <a:ln>
            <a:solidFill>
              <a:srgbClr val="126CF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70432" y="28072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61E3A"/>
                </a:solidFill>
              </a:rPr>
              <a:t>Проверяем логику и полноту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7240" y="3291840"/>
            <a:ext cx="310896" cy="310896"/>
          </a:xfrm>
          <a:prstGeom prst="roundRect">
            <a:avLst/>
          </a:prstGeom>
          <a:solidFill>
            <a:srgbClr val="F03A63"/>
          </a:solidFill>
          <a:ln>
            <a:solidFill>
              <a:srgbClr val="F03A6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70431" y="3310128"/>
            <a:ext cx="39668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ru-RU" sz="1350" dirty="0">
                <a:solidFill>
                  <a:srgbClr val="061E3A"/>
                </a:solidFill>
              </a:rPr>
              <a:t>Исправляем БА/СА при подтверждённой проблеме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7240" y="3794760"/>
            <a:ext cx="310896" cy="310896"/>
          </a:xfrm>
          <a:prstGeom prst="roundRect">
            <a:avLst/>
          </a:prstGeom>
          <a:solidFill>
            <a:srgbClr val="126CF3"/>
          </a:solidFill>
          <a:ln>
            <a:solidFill>
              <a:srgbClr val="126CF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70432" y="3813048"/>
            <a:ext cx="3792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61E3A"/>
                </a:solidFill>
              </a:rPr>
              <a:t>Формируем и проверяем тестовое покрытие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77240" y="4297680"/>
            <a:ext cx="310896" cy="310896"/>
          </a:xfrm>
          <a:prstGeom prst="roundRect">
            <a:avLst/>
          </a:prstGeom>
          <a:solidFill>
            <a:srgbClr val="126CF3"/>
          </a:solidFill>
          <a:ln>
            <a:solidFill>
              <a:srgbClr val="126CF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70432" y="4315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61E3A"/>
                </a:solidFill>
              </a:rPr>
              <a:t>Экспортируем результат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257800" y="1143000"/>
            <a:ext cx="6446520" cy="5166360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D6E3EF"/>
            </a:solidFill>
            <a:prstDash val="solid"/>
          </a:ln>
        </p:spPr>
      </p:sp>
      <p:pic>
        <p:nvPicPr>
          <p:cNvPr id="19" name="Image 1" descr="/mnt/data/run_overview_crop.png"/>
          <p:cNvPicPr>
            <a:picLocks noChangeAspect="1"/>
          </p:cNvPicPr>
          <p:nvPr/>
        </p:nvPicPr>
        <p:blipFill>
          <a:blip r:embed="rId4"/>
          <a:srcRect r="44393" b="14000"/>
          <a:stretch/>
        </p:blipFill>
        <p:spPr>
          <a:xfrm>
            <a:off x="5594464" y="1469578"/>
            <a:ext cx="5878761" cy="4650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меняется в процессе</a:t>
            </a:r>
            <a:endParaRPr lang="en-US" sz="2600" dirty="0"/>
          </a:p>
        </p:txBody>
      </p:sp>
      <p:pic>
        <p:nvPicPr>
          <p:cNvPr id="3" name="Image 0" descr="/mnt/data/orchestrator_logo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10312"/>
            <a:ext cx="50292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6E3E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325880"/>
            <a:ext cx="4983480" cy="1920240"/>
          </a:xfrm>
          <a:prstGeom prst="roundRect">
            <a:avLst/>
          </a:prstGeom>
          <a:solidFill>
            <a:srgbClr val="F8FBFE"/>
          </a:solidFill>
          <a:ln w="13970">
            <a:solidFill>
              <a:srgbClr val="D6E3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7280" y="1554480"/>
            <a:ext cx="320040" cy="320040"/>
          </a:xfrm>
          <a:prstGeom prst="ellipse">
            <a:avLst/>
          </a:prstGeom>
          <a:solidFill>
            <a:srgbClr val="00A99A"/>
          </a:solidFill>
          <a:ln w="12700">
            <a:solidFill>
              <a:srgbClr val="00A9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54480" y="15453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1E3A"/>
                </a:solidFill>
              </a:rPr>
              <a:t>ЕДИНЫЙ МАРШРУТ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213055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A6B80"/>
                </a:solidFill>
              </a:rPr>
              <a:t>Состояние Story и результаты этапов сохраняются в одном процессе.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63640" y="1325880"/>
            <a:ext cx="4983480" cy="1920240"/>
          </a:xfrm>
          <a:prstGeom prst="roundRect">
            <a:avLst/>
          </a:prstGeom>
          <a:solidFill>
            <a:srgbClr val="F8FBFE"/>
          </a:solidFill>
          <a:ln w="13970">
            <a:solidFill>
              <a:srgbClr val="D6E3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554480"/>
            <a:ext cx="320040" cy="320040"/>
          </a:xfrm>
          <a:prstGeom prst="ellipse">
            <a:avLst/>
          </a:prstGeom>
          <a:solidFill>
            <a:srgbClr val="126CF3"/>
          </a:solidFill>
          <a:ln w="12700">
            <a:solidFill>
              <a:srgbClr val="126C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0" y="15453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1E3A"/>
                </a:solidFill>
              </a:rPr>
              <a:t>ПРОСЛЕЖИВАЕМОСТЬ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83680" y="213055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00" dirty="0">
                <a:solidFill>
                  <a:srgbClr val="5A6B80"/>
                </a:solidFill>
              </a:rPr>
              <a:t>Исходная аналитика → </a:t>
            </a:r>
            <a:r>
              <a:rPr lang="en-US" sz="1800" dirty="0" err="1" smtClean="0">
                <a:solidFill>
                  <a:srgbClr val="5A6B80"/>
                </a:solidFill>
              </a:rPr>
              <a:t>требовани</a:t>
            </a:r>
            <a:r>
              <a:rPr lang="ru-RU" sz="1800" dirty="0" smtClean="0">
                <a:solidFill>
                  <a:srgbClr val="5A6B80"/>
                </a:solidFill>
              </a:rPr>
              <a:t>я</a:t>
            </a:r>
            <a:r>
              <a:rPr lang="en-US" sz="1800" dirty="0" smtClean="0">
                <a:solidFill>
                  <a:srgbClr val="5A6B80"/>
                </a:solidFill>
              </a:rPr>
              <a:t> → </a:t>
            </a:r>
            <a:r>
              <a:rPr lang="ru-RU" dirty="0" smtClean="0">
                <a:solidFill>
                  <a:srgbClr val="5A6B80"/>
                </a:solidFill>
              </a:rPr>
              <a:t>контрольная </a:t>
            </a:r>
            <a:r>
              <a:rPr lang="ru-RU" dirty="0">
                <a:solidFill>
                  <a:srgbClr val="5A6B80"/>
                </a:solidFill>
              </a:rPr>
              <a:t>точка</a:t>
            </a:r>
            <a:r>
              <a:rPr lang="en-US" sz="1800" dirty="0" smtClean="0">
                <a:solidFill>
                  <a:srgbClr val="5A6B80"/>
                </a:solidFill>
              </a:rPr>
              <a:t> → </a:t>
            </a:r>
            <a:r>
              <a:rPr lang="en-US" sz="1800" dirty="0">
                <a:solidFill>
                  <a:srgbClr val="5A6B80"/>
                </a:solidFill>
              </a:rPr>
              <a:t>тестовое покрытие.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77240" y="3703320"/>
            <a:ext cx="4983480" cy="1920240"/>
          </a:xfrm>
          <a:prstGeom prst="roundRect">
            <a:avLst/>
          </a:prstGeom>
          <a:solidFill>
            <a:srgbClr val="F8FBFE"/>
          </a:solidFill>
          <a:ln w="13970">
            <a:solidFill>
              <a:srgbClr val="D6E3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7280" y="3931920"/>
            <a:ext cx="320040" cy="320040"/>
          </a:xfrm>
          <a:prstGeom prst="ellipse">
            <a:avLst/>
          </a:prstGeom>
          <a:solidFill>
            <a:srgbClr val="6F57F7"/>
          </a:solidFill>
          <a:ln w="12700">
            <a:solidFill>
              <a:srgbClr val="6F57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54480" y="39227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1E3A"/>
                </a:solidFill>
              </a:rPr>
              <a:t>КОНТРОЛЬ РЕЗУЛЬТАТА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97280" y="450799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A6B80"/>
                </a:solidFill>
              </a:rPr>
              <a:t>Решения на ключевых этапах принимает человек.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263640" y="3703320"/>
            <a:ext cx="4983480" cy="1920240"/>
          </a:xfrm>
          <a:prstGeom prst="roundRect">
            <a:avLst/>
          </a:prstGeom>
          <a:solidFill>
            <a:srgbClr val="F8FBFE"/>
          </a:solidFill>
          <a:ln w="13970">
            <a:solidFill>
              <a:srgbClr val="D6E3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0" y="3931920"/>
            <a:ext cx="320040" cy="320040"/>
          </a:xfrm>
          <a:prstGeom prst="ellipse">
            <a:avLst/>
          </a:prstGeom>
          <a:solidFill>
            <a:srgbClr val="36C695"/>
          </a:solidFill>
          <a:ln w="12700">
            <a:solidFill>
              <a:srgbClr val="36C69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39227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1E3A"/>
                </a:solidFill>
              </a:rPr>
              <a:t>ПОВТОРЯЕМОСТЬ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583680" y="450799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A6B80"/>
                </a:solidFill>
              </a:rPr>
              <a:t>Один процесс можно применять к разным Story.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320040"/>
            <a:ext cx="9447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600" b="1" dirty="0">
                <a:solidFill>
                  <a:srgbClr val="06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Направление </a:t>
            </a:r>
            <a:r>
              <a:rPr lang="ru-RU" sz="2600" b="1" dirty="0" smtClean="0">
                <a:solidFill>
                  <a:srgbClr val="06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развития</a:t>
            </a:r>
            <a:r>
              <a:rPr lang="en-US" sz="2600" b="1" dirty="0" smtClean="0">
                <a:solidFill>
                  <a:srgbClr val="06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: </a:t>
            </a:r>
            <a:r>
              <a:rPr lang="en-US" sz="2600" b="1" dirty="0">
                <a:solidFill>
                  <a:srgbClr val="06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качество входных артефактов</a:t>
            </a:r>
            <a:endParaRPr lang="en-US" sz="2600" dirty="0"/>
          </a:p>
        </p:txBody>
      </p:sp>
      <p:pic>
        <p:nvPicPr>
          <p:cNvPr id="3" name="Image 0" descr="/mnt/data/orchestrator_logo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10312"/>
            <a:ext cx="50292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6E3E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98755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700" b="1" dirty="0">
                <a:solidFill>
                  <a:srgbClr val="00A99A"/>
                </a:solidFill>
              </a:rPr>
              <a:t>Предварительный анализ документов / проверка качества входных артефактов</a:t>
            </a:r>
            <a:endParaRPr lang="en-US" sz="1700" b="1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6B80"/>
                </a:solidFill>
              </a:rPr>
              <a:t>Сейчас сформулировано 28 правил. </a:t>
            </a:r>
            <a:endParaRPr lang="ru-RU" sz="1600" dirty="0" smtClean="0">
              <a:solidFill>
                <a:srgbClr val="5A6B80"/>
              </a:solidFill>
            </a:endParaRPr>
          </a:p>
          <a:p>
            <a:pPr marL="0" indent="0">
              <a:buNone/>
            </a:pPr>
            <a:r>
              <a:rPr lang="en-US" sz="1600" dirty="0" err="1" smtClean="0">
                <a:solidFill>
                  <a:srgbClr val="5A6B80"/>
                </a:solidFill>
              </a:rPr>
              <a:t>Они</a:t>
            </a:r>
            <a:r>
              <a:rPr lang="en-US" sz="1600" dirty="0" smtClean="0">
                <a:solidFill>
                  <a:srgbClr val="5A6B80"/>
                </a:solidFill>
              </a:rPr>
              <a:t> </a:t>
            </a:r>
            <a:r>
              <a:rPr lang="en-US" sz="1600" dirty="0">
                <a:solidFill>
                  <a:srgbClr val="5A6B80"/>
                </a:solidFill>
              </a:rPr>
              <a:t>появились в ходе анализа реальных задач и результатов работы Оркестратора.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A6B80"/>
                </a:solidFill>
              </a:rPr>
              <a:t>Набор не закрыт: новые задачи могут дополнять существующие правила или выявлять новые.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2377440"/>
            <a:ext cx="5303520" cy="3429000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D6E3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87236" y="2528316"/>
            <a:ext cx="3325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1E3A"/>
                </a:solidFill>
              </a:rPr>
              <a:t>Правила появились из практики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37560" y="3246120"/>
            <a:ext cx="0" cy="182880"/>
          </a:xfrm>
          <a:prstGeom prst="line">
            <a:avLst/>
          </a:prstGeom>
          <a:noFill/>
          <a:ln w="13970">
            <a:solidFill>
              <a:srgbClr val="00A99A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37560" y="3749040"/>
            <a:ext cx="0" cy="182880"/>
          </a:xfrm>
          <a:prstGeom prst="line">
            <a:avLst/>
          </a:prstGeom>
          <a:noFill/>
          <a:ln w="13970">
            <a:solidFill>
              <a:srgbClr val="00A99A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37560" y="4251960"/>
            <a:ext cx="0" cy="182880"/>
          </a:xfrm>
          <a:prstGeom prst="line">
            <a:avLst/>
          </a:prstGeom>
          <a:noFill/>
          <a:ln w="13970">
            <a:solidFill>
              <a:srgbClr val="00A99A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337560" y="4754880"/>
            <a:ext cx="0" cy="182880"/>
          </a:xfrm>
          <a:prstGeom prst="line">
            <a:avLst/>
          </a:prstGeom>
          <a:noFill/>
          <a:ln w="13970">
            <a:solidFill>
              <a:srgbClr val="00A99A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1417320" y="2971800"/>
            <a:ext cx="3840480" cy="347472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D6E3E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Реальная Story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417320" y="3474720"/>
            <a:ext cx="3840480" cy="347472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D6E3E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 Оркестратора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417320" y="3977640"/>
            <a:ext cx="3840480" cy="347472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D6E3E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Анализ причины проблемы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417320" y="4480560"/>
            <a:ext cx="3840480" cy="347472"/>
          </a:xfrm>
          <a:prstGeom prst="roundRect">
            <a:avLst/>
          </a:prstGeom>
          <a:solidFill>
            <a:srgbClr val="EAFBF4"/>
          </a:solidFill>
          <a:ln w="12700">
            <a:solidFill>
              <a:srgbClr val="36C695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Новое или уточнённое правило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417320" y="4983480"/>
            <a:ext cx="3840480" cy="347472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D6E3E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Следующий цикл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09360" y="2377440"/>
            <a:ext cx="5303520" cy="3429000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D6E3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08471" y="2526653"/>
            <a:ext cx="2905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1E3A"/>
                </a:solidFill>
              </a:rPr>
              <a:t>Предварительная проверка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961120" y="3246120"/>
            <a:ext cx="0" cy="182880"/>
          </a:xfrm>
          <a:prstGeom prst="line">
            <a:avLst/>
          </a:prstGeom>
          <a:noFill/>
          <a:ln w="13970">
            <a:solidFill>
              <a:srgbClr val="6F57F7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961120" y="3749040"/>
            <a:ext cx="0" cy="182880"/>
          </a:xfrm>
          <a:prstGeom prst="line">
            <a:avLst/>
          </a:prstGeom>
          <a:noFill/>
          <a:ln w="13970">
            <a:solidFill>
              <a:srgbClr val="6F57F7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8961120" y="4251960"/>
            <a:ext cx="0" cy="182880"/>
          </a:xfrm>
          <a:prstGeom prst="line">
            <a:avLst/>
          </a:prstGeom>
          <a:noFill/>
          <a:ln w="13970">
            <a:solidFill>
              <a:srgbClr val="6F57F7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961120" y="4754880"/>
            <a:ext cx="0" cy="182880"/>
          </a:xfrm>
          <a:prstGeom prst="line">
            <a:avLst/>
          </a:prstGeom>
          <a:noFill/>
          <a:ln w="13970">
            <a:solidFill>
              <a:srgbClr val="6F57F7"/>
            </a:solidFill>
            <a:prstDash val="solid"/>
            <a:headEnd type="none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7040880" y="2971800"/>
            <a:ext cx="3840480" cy="347472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D6E3E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 и СА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040880" y="3474720"/>
            <a:ext cx="3840480" cy="347472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D6E3E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 по правилам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040880" y="3977640"/>
            <a:ext cx="3840480" cy="347472"/>
          </a:xfrm>
          <a:prstGeom prst="roundRect">
            <a:avLst/>
          </a:prstGeom>
          <a:solidFill>
            <a:srgbClr val="EAFBF4"/>
          </a:solidFill>
          <a:ln w="12700">
            <a:solidFill>
              <a:srgbClr val="36C695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Ревью человеком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040880" y="4480560"/>
            <a:ext cx="3840480" cy="347472"/>
          </a:xfrm>
          <a:prstGeom prst="roundRect">
            <a:avLst/>
          </a:prstGeom>
          <a:solidFill>
            <a:srgbClr val="F3F1FF"/>
          </a:solidFill>
          <a:ln w="12700">
            <a:solidFill>
              <a:srgbClr val="6F57F7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Безопасная нормализация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040880" y="4983480"/>
            <a:ext cx="3840480" cy="347472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D6E3EF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1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Doc2RAG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68680" y="61447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B80"/>
                </a:solidFill>
              </a:rPr>
              <a:t>Цели: находить проблемы до основного анализа, безопасно нормализовать структуру, спорные исправления оставлять человеку, сохранять связь с исходным документом.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orchestrator_logo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10312"/>
            <a:ext cx="50292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6E3EF"/>
            </a:solidFill>
            <a:prstDash val="solid"/>
          </a:ln>
        </p:spPr>
      </p:sp>
      <p:sp>
        <p:nvSpPr>
          <p:cNvPr id="30" name="Text 0"/>
          <p:cNvSpPr/>
          <p:nvPr/>
        </p:nvSpPr>
        <p:spPr>
          <a:xfrm>
            <a:off x="4620490" y="3205249"/>
            <a:ext cx="33181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4400" dirty="0" smtClean="0">
                <a:solidFill>
                  <a:srgbClr val="06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ВОПРОСЫ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771701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Технологический стек</a:t>
            </a:r>
            <a:endParaRPr lang="en-US" sz="2600" dirty="0"/>
          </a:p>
        </p:txBody>
      </p:sp>
      <p:pic>
        <p:nvPicPr>
          <p:cNvPr id="3" name="Image 0" descr="/mnt/data/orchestrator_logo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10312"/>
            <a:ext cx="50292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2700">
            <a:solidFill>
              <a:srgbClr val="D6E3E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80"/>
                </a:solidFill>
              </a:rPr>
              <a:t>Резервный слайд для технических вопросов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" y="1828800"/>
            <a:ext cx="1874520" cy="3246120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D6E3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99A"/>
                </a:solidFill>
              </a:rPr>
              <a:t>Desktop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41832" y="26974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61E3A"/>
                </a:solidFill>
              </a:rPr>
              <a:t>Python 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61E3A"/>
                </a:solidFill>
              </a:rPr>
              <a:t>FastAPI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61E3A"/>
                </a:solidFill>
              </a:rPr>
              <a:t>Uvicorn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61E3A"/>
                </a:solidFill>
              </a:rPr>
              <a:t>pywebview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61E3A"/>
                </a:solidFill>
              </a:rPr>
              <a:t>WebView2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063240" y="1828800"/>
            <a:ext cx="1874520" cy="3246120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D6E3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27832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6CF3"/>
                </a:solidFill>
              </a:rPr>
              <a:t>Интерфейс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27832" y="26974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61E3A"/>
                </a:solidFill>
              </a:rPr>
              <a:t>HTML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61E3A"/>
                </a:solidFill>
              </a:rPr>
              <a:t>CSS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61E3A"/>
                </a:solidFill>
              </a:rPr>
              <a:t>JavaScript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61E3A"/>
                </a:solidFill>
              </a:rPr>
              <a:t>Jinja2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49240" y="1828800"/>
            <a:ext cx="1874520" cy="3246120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D6E3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13832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F57F7"/>
                </a:solidFill>
              </a:rPr>
              <a:t>Интеграции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513832" y="26974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61E3A"/>
                </a:solidFill>
              </a:rPr>
              <a:t>Doc2RAG API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61E3A"/>
                </a:solidFill>
              </a:rPr>
              <a:t>OpenRouter API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61E3A"/>
                </a:solidFill>
              </a:rPr>
              <a:t>Test IT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635240" y="1828800"/>
            <a:ext cx="1874520" cy="3246120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D6E3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99832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6C695"/>
                </a:solidFill>
              </a:rPr>
              <a:t>Поставка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99832" y="26974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61E3A"/>
                </a:solidFill>
              </a:rPr>
              <a:t>PyInstaller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61E3A"/>
                </a:solidFill>
              </a:rPr>
              <a:t>Windows portable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921240" y="1828800"/>
            <a:ext cx="1874520" cy="3246120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D6E3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85832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B80"/>
                </a:solidFill>
              </a:rPr>
              <a:t>Хранение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085832" y="26974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61E3A"/>
                </a:solidFill>
              </a:rPr>
              <a:t>локальный DATA_ROOT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61E3A"/>
                </a:solidFill>
              </a:rPr>
              <a:t>Windows DPAPI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77240" y="5769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2000" dirty="0" err="1"/>
              <a:t>Desktop</a:t>
            </a:r>
            <a:r>
              <a:rPr lang="ru-RU" sz="2000" dirty="0"/>
              <a:t>-приложение использует тот же </a:t>
            </a:r>
            <a:r>
              <a:rPr lang="ru-RU" sz="2000" dirty="0" err="1"/>
              <a:t>web</a:t>
            </a:r>
            <a:r>
              <a:rPr lang="ru-RU" sz="2000" dirty="0"/>
              <a:t>-интерфейс внутри локального приложения.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618</Words>
  <Application>Microsoft Office PowerPoint</Application>
  <PresentationFormat>Широкоэкранный</PresentationFormat>
  <Paragraphs>180</Paragraphs>
  <Slides>12</Slides>
  <Notes>12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Image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SmartDS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&amp; QA Orchestrator</dc:title>
  <dc:subject>Analysis &amp; QA Orchestrator</dc:subject>
  <dc:creator>OpenAI</dc:creator>
  <cp:lastModifiedBy>Kuznetsov Andrey KLF</cp:lastModifiedBy>
  <cp:revision>23</cp:revision>
  <dcterms:created xsi:type="dcterms:W3CDTF">2026-09-24T16:36:55Z</dcterms:created>
  <dcterms:modified xsi:type="dcterms:W3CDTF">2026-09-28T06:35:05Z</dcterms:modified>
</cp:coreProperties>
</file>